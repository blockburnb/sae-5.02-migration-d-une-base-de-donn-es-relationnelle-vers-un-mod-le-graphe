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1828800"/>
          </a:xfrm>
          <a:prstGeom prst="roundRect">
            <a:avLst>
              <a:gd name="adj" fmla="val 15000"/>
            </a:avLst>
          </a:prstGeom>
          <a:solidFill>
            <a:srgbClr val="0D948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286000" cy="1371600"/>
          </a:xfrm>
          <a:prstGeom prst="roundRect">
            <a:avLst>
              <a:gd name="adj" fmla="val 20000"/>
            </a:avLst>
          </a:prstGeom>
          <a:solidFill>
            <a:srgbClr val="14B8A6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200400"/>
            <a:ext cx="2743200" cy="2286000"/>
          </a:xfrm>
          <a:prstGeom prst="roundRect">
            <a:avLst>
              <a:gd name="adj" fmla="val 12000"/>
            </a:avLst>
          </a:prstGeom>
          <a:solidFill>
            <a:srgbClr val="1A2744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0" y="1371600"/>
            <a:ext cx="2743200" cy="274320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046720" y="1828800"/>
            <a:ext cx="1463040" cy="1463040"/>
          </a:xfrm>
          <a:prstGeom prst="ellipse">
            <a:avLst/>
          </a:prstGeom>
          <a:solidFill>
            <a:srgbClr val="14B8A6">
              <a:alpha val="3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16459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Rapport de Migration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731520" y="25146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Graphe des Crimes et Délits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 – 2021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731520" y="3520440"/>
            <a:ext cx="1828800" cy="5486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Commanditaire :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Ministère de l'Intérieur (DGDSN)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 :  </a:t>
            </a:r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v1.5.9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152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Franklin BECK  ·  Leon VINCENT-VACLE  ·  Lucas COROMPT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"/>
            <a:ext cx="2286000" cy="1097280"/>
          </a:xfrm>
          <a:prstGeom prst="roundRect">
            <a:avLst>
              <a:gd name="adj" fmla="val 25000"/>
            </a:avLst>
          </a:prstGeom>
          <a:solidFill>
            <a:srgbClr val="0D9488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65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Inventaire des Ressources et Données Sources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 des statistiques officielles de la délinquance enregistrée en France sur la décennie 2012-2021, constituant une base de connaissances massive de l'activité judiciaire.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374904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423160"/>
            <a:ext cx="502920" cy="502920"/>
          </a:xfrm>
          <a:prstGeom prst="ellipse">
            <a:avLst/>
          </a:prstGeom>
          <a:solidFill>
            <a:srgbClr val="F0FDF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523744"/>
            <a:ext cx="301752" cy="3017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54480" y="2423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Nationale (PN)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14400" y="3017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Intervient dans les Circonscriptions de Sécurité Publique (CSP) couvrant les zones urbaines et grandes agglomérations.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4400" y="3749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182880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annuels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54880" y="2194560"/>
            <a:ext cx="374904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029200" y="2423160"/>
            <a:ext cx="502920" cy="502920"/>
          </a:xfrm>
          <a:prstGeom prst="ellipse">
            <a:avLst/>
          </a:prstGeom>
          <a:solidFill>
            <a:srgbClr val="F0FDFA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784" y="2523744"/>
            <a:ext cx="301752" cy="30175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669280" y="2423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Gendarmerie Nationale (GN)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029200" y="3017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Intervient via les Compagnies de Gendarmerie Départementale (CGD) sur les zones rurales et périurbaines.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029200" y="3749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200" dirty="0"/>
          </a:p>
        </p:txBody>
      </p:sp>
      <p:sp>
        <p:nvSpPr>
          <p:cNvPr id="21" name="Text 17"/>
          <p:cNvSpPr/>
          <p:nvPr/>
        </p:nvSpPr>
        <p:spPr>
          <a:xfrm>
            <a:off x="594360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annuels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4114800"/>
            <a:ext cx="2286000" cy="1371600"/>
          </a:xfrm>
          <a:prstGeom prst="roundRect">
            <a:avLst>
              <a:gd name="adj" fmla="val 20000"/>
            </a:avLst>
          </a:prstGeom>
          <a:solidFill>
            <a:srgbClr val="F0FDFA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65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Indicateurs Techniques &amp; Données INSEE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7490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F0FDF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7452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Exploités</a:t>
            </a:r>
            <a:endParaRPr lang="en-US" sz="15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6888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2423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temporelles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280160" y="2697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fichiers sources (2012-2021)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154680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3108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Entités géographiques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280160" y="33832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par départements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84048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3794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d'activité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280160" y="40690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Faits constatés par index de criminalité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754880" y="1554480"/>
            <a:ext cx="37490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029200" y="1783080"/>
            <a:ext cx="457200" cy="457200"/>
          </a:xfrm>
          <a:prstGeom prst="ellipse">
            <a:avLst/>
          </a:prstGeom>
          <a:solidFill>
            <a:srgbClr val="F0FDFA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18745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623560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INSEE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502920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population_by_dept_year.csv</a:t>
            </a:r>
            <a:endParaRPr lang="en-US" sz="10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788920"/>
            <a:ext cx="182880" cy="1828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349240" y="2743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et libellés des départements</a:t>
            </a:r>
            <a:endParaRPr lang="en-US" sz="11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3172968"/>
            <a:ext cx="182880" cy="18288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349240" y="3127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par tranches d'âge</a:t>
            </a:r>
            <a:endParaRPr lang="en-US" sz="11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3557016"/>
            <a:ext cx="182880" cy="18288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349240" y="35112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Distinction Hommes / Femmes</a:t>
            </a:r>
            <a:endParaRPr lang="en-US" sz="11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3941064"/>
            <a:ext cx="182880" cy="18288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5349240" y="38953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du taux de victimation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"/>
            <a:ext cx="2286000" cy="1097280"/>
          </a:xfrm>
          <a:prstGeom prst="roundRect">
            <a:avLst>
              <a:gd name="adj" fmla="val 25000"/>
            </a:avLst>
          </a:prstGeom>
          <a:solidFill>
            <a:srgbClr val="0D9488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65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Processus ETL – Nettoyage &amp; Normalisation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des fichiers sources hétérogènes (Excel, CSV) en données structurées via Python / Pandas.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2402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22677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Réunification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92608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des 20 fichiers annuels (PN + GN) en une table unique, alignement sur la nomenclature État 4001.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0" y="201168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49040" y="22402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374904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89120" y="22677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749040" y="292608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du fichier démographique INSEE pour extraire les populations par département et par année.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201168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83680" y="22402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23760" y="22677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83680" y="292608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des caractères spéciaux, conversion des types, alignement des codes géographiques (Corse, Outre-mer).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36576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Cahier des Charges du Modèle Conceptuel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doit répondre aux exigences métiers de la DGDSN.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148840"/>
            <a:ext cx="2011680" cy="5486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377440"/>
            <a:ext cx="457200" cy="457200"/>
          </a:xfrm>
          <a:prstGeom prst="ellipse">
            <a:avLst/>
          </a:prstGeom>
          <a:solidFill>
            <a:srgbClr val="F0FDF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46888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08760" y="2423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Temporel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14400" y="29718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l'évolution de la délinquance sur 10 ans.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474720" y="192024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749040" y="2148840"/>
            <a:ext cx="201168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5" name="Shape 12"/>
          <p:cNvSpPr/>
          <p:nvPr/>
        </p:nvSpPr>
        <p:spPr>
          <a:xfrm>
            <a:off x="3749040" y="2377440"/>
            <a:ext cx="457200" cy="457200"/>
          </a:xfrm>
          <a:prstGeom prst="ellipse">
            <a:avLst/>
          </a:prstGeom>
          <a:solidFill>
            <a:srgbClr val="F0FDF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246888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43400" y="2423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Territorial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749040" y="29718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Ventiler les crimes par département et par type de zone (urbaine / rurale).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309360" y="192024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583680" y="2148840"/>
            <a:ext cx="2011680" cy="5486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21" name="Shape 17"/>
          <p:cNvSpPr/>
          <p:nvPr/>
        </p:nvSpPr>
        <p:spPr>
          <a:xfrm>
            <a:off x="6583680" y="2377440"/>
            <a:ext cx="457200" cy="457200"/>
          </a:xfrm>
          <a:prstGeom prst="ellipse">
            <a:avLst/>
          </a:prstGeom>
          <a:solidFill>
            <a:srgbClr val="F0FDFA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46888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178040" y="2423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Performance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583680" y="29718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des taux de criminalité grâce au croisement avec les données de population.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"/>
            <a:ext cx="2286000" cy="1097280"/>
          </a:xfrm>
          <a:prstGeom prst="roundRect">
            <a:avLst>
              <a:gd name="adj" fmla="val 25000"/>
            </a:avLst>
          </a:prstGeom>
          <a:solidFill>
            <a:srgbClr val="0D9488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65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Modèle Logique – Schéma en Étoile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isolant les indicateurs chiffrés (faits) des axes d'analyse (dimensions).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2103120"/>
            <a:ext cx="2743200" cy="1188720"/>
          </a:xfrm>
          <a:prstGeom prst="roundRect">
            <a:avLst>
              <a:gd name="adj" fmla="val 11538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FAITS_CRIMINELS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2606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de crimes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Clés étrangères vers dimensions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246888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011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DIM_INFRACTIONS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377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Libellés des crimes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246888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657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DIM_DEPARTEMENTS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023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et noms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828800"/>
            <a:ext cx="246888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2011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DIM_SERVICES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2377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/ GN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3474720"/>
            <a:ext cx="246888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0" y="3657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DIM_TEMPS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4023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Années 2012-2021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3749040"/>
            <a:ext cx="274320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0040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STAT_POPULATION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INSEE par département/année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36576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 Relationnelle – Pivot &amp; Limites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7490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737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du Modèle Pivot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58568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22402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234440" y="24871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(Police / Gendarmerie) et rattachement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98648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28803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Geographie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234440" y="31272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Départements et population totale INSEE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538728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35204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Nomenclature_4001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1234440" y="37673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Référentiel des libellés d'infractions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178808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41605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Faits_Criminels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1234440" y="44074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(Quantité, Année)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754880" y="1554480"/>
            <a:ext cx="37490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029200" y="1783080"/>
            <a:ext cx="3200400" cy="54864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22" name="Text 16"/>
          <p:cNvSpPr/>
          <p:nvPr/>
        </p:nvSpPr>
        <p:spPr>
          <a:xfrm>
            <a:off x="502920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identifiées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02920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Jointures coûteuses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029200" y="2788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Corrélations population / crimes sur départements voisins : saturation des ressources.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029200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Rigidité du schéma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029200" y="3657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L'ajout de nouvelles dimensions géographiques (adjacences) complexifie le schéma SQL.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657600"/>
            <a:ext cx="2286000" cy="1828800"/>
          </a:xfrm>
          <a:prstGeom prst="roundRect">
            <a:avLst>
              <a:gd name="adj" fmla="val 15000"/>
            </a:avLst>
          </a:prstGeom>
          <a:solidFill>
            <a:srgbClr val="1A2744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274320"/>
            <a:ext cx="2286000" cy="1097280"/>
          </a:xfrm>
          <a:prstGeom prst="roundRect">
            <a:avLst>
              <a:gd name="adj" fmla="val 25000"/>
            </a:avLst>
          </a:prstGeom>
          <a:solidFill>
            <a:srgbClr val="14B8A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36576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65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Migration vers Neo4j – Nœuds &amp; Relations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Restructuration du modèle relationnel vers un modèle orienté graphe – les relations sont matérialisées explicitement.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Nœuds (Entités)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3657600" cy="411480"/>
          </a:xfrm>
          <a:prstGeom prst="roundRect">
            <a:avLst>
              <a:gd name="adj" fmla="val 22222"/>
            </a:avLst>
          </a:prstGeom>
          <a:solidFill>
            <a:srgbClr val="1A2744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286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:Infraction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77440" y="22860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Vols, Violences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761488"/>
            <a:ext cx="3657600" cy="411480"/>
          </a:xfrm>
          <a:prstGeom prst="roundRect">
            <a:avLst>
              <a:gd name="adj" fmla="val 22222"/>
            </a:avLst>
          </a:prstGeom>
          <a:solidFill>
            <a:srgbClr val="1A2744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76148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:Departement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77440" y="27614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75, 13, 2A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236976"/>
            <a:ext cx="3657600" cy="411480"/>
          </a:xfrm>
          <a:prstGeom prst="roundRect">
            <a:avLst>
              <a:gd name="adj" fmla="val 22222"/>
            </a:avLst>
          </a:prstGeom>
          <a:solidFill>
            <a:srgbClr val="1A2744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23697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:Service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77440" y="323697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Police, Gendarmerie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712464"/>
            <a:ext cx="3657600" cy="411480"/>
          </a:xfrm>
          <a:prstGeom prst="roundRect">
            <a:avLst>
              <a:gd name="adj" fmla="val 22222"/>
            </a:avLst>
          </a:prstGeom>
          <a:solidFill>
            <a:srgbClr val="1A2744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71246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:Annee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77440" y="371246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2012 ... 2021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4187952"/>
            <a:ext cx="3657600" cy="411480"/>
          </a:xfrm>
          <a:prstGeom prst="roundRect">
            <a:avLst>
              <a:gd name="adj" fmla="val 22222"/>
            </a:avLst>
          </a:prstGeom>
          <a:solidFill>
            <a:srgbClr val="1A2744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18795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:Fait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77440" y="41879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Nœud central (nb faits)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 (Actions)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54880" y="2286000"/>
            <a:ext cx="4114800" cy="457200"/>
          </a:xfrm>
          <a:prstGeom prst="roundRect">
            <a:avLst>
              <a:gd name="adj" fmla="val 20000"/>
            </a:avLst>
          </a:prstGeom>
          <a:solidFill>
            <a:srgbClr val="1A2744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2286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(Departement)-[:HAS_FACT]-&gt;(Fait)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816352"/>
            <a:ext cx="4114800" cy="457200"/>
          </a:xfrm>
          <a:prstGeom prst="roundRect">
            <a:avLst>
              <a:gd name="adj" fmla="val 20000"/>
            </a:avLst>
          </a:prstGeom>
          <a:solidFill>
            <a:srgbClr val="1A2744"/>
          </a:solidFill>
          <a:ln/>
        </p:spPr>
      </p:sp>
      <p:sp>
        <p:nvSpPr>
          <p:cNvPr id="29" name="Text 27"/>
          <p:cNvSpPr/>
          <p:nvPr/>
        </p:nvSpPr>
        <p:spPr>
          <a:xfrm>
            <a:off x="4983480" y="28163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(Fait)-[:OF_INFRACTION]-&gt;(Infraction)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346704"/>
            <a:ext cx="4114800" cy="457200"/>
          </a:xfrm>
          <a:prstGeom prst="roundRect">
            <a:avLst>
              <a:gd name="adj" fmla="val 20000"/>
            </a:avLst>
          </a:prstGeom>
          <a:solidFill>
            <a:srgbClr val="1A2744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334670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(Fait)-[:BY_SERVICE]-&gt;(Service)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877056"/>
            <a:ext cx="4114800" cy="457200"/>
          </a:xfrm>
          <a:prstGeom prst="roundRect">
            <a:avLst>
              <a:gd name="adj" fmla="val 20000"/>
            </a:avLst>
          </a:prstGeom>
          <a:solidFill>
            <a:srgbClr val="1A2744"/>
          </a:solidFill>
          <a:ln/>
        </p:spPr>
      </p:sp>
      <p:sp>
        <p:nvSpPr>
          <p:cNvPr id="33" name="Text 31"/>
          <p:cNvSpPr/>
          <p:nvPr/>
        </p:nvSpPr>
        <p:spPr>
          <a:xfrm>
            <a:off x="4983480" y="387705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(Fait)-[:IN_YEAR]-&gt;(Annee)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"/>
            <a:ext cx="2286000" cy="1097280"/>
          </a:xfrm>
          <a:prstGeom prst="roundRect">
            <a:avLst>
              <a:gd name="adj" fmla="val 25000"/>
            </a:avLst>
          </a:prstGeom>
          <a:solidFill>
            <a:srgbClr val="0D9488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65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Justification du Nœud :Fait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créer un nœud intermédiaire plutôt qu'une propriété sur une relation 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374904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176272"/>
            <a:ext cx="3200400" cy="54864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 – Propriété sur relation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nombre_faits stocké directement sur la relation. Limité en flexibilité.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965960"/>
            <a:ext cx="374904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0" y="2176272"/>
            <a:ext cx="3200400" cy="5486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 – Nœud intermédiaire :Fait  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Nœud dédié relié aux dimensions. Meilleure lisibilité et évolutivité.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291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Avantages du nœud :Fait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3749040"/>
            <a:ext cx="192024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886200"/>
            <a:ext cx="228600" cy="2286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097280" y="38404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Granularité temporelle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7240" y="4206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de la dimension temps sans ambiguïté sur les relations.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743200" y="3749040"/>
            <a:ext cx="192024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3886200"/>
            <a:ext cx="228600" cy="2286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200400" y="38404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Agrégations facilitées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2880360" y="4206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Cypher simples pour sommer, filtrer ou grouper les faits.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4846320" y="3749040"/>
            <a:ext cx="192024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3886200"/>
            <a:ext cx="228600" cy="2286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303520" y="38404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futures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983480" y="4206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de propriétés (taux, indicateurs) sans modifier le schéma existant.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6949440" y="3749040"/>
            <a:ext cx="192024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388620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406640" y="38404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Lisibilité du modèle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7086600" y="4206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 les relations multi-propriétés complexes et difficilement maintenables.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36576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Stratégie de Migration Technique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réalisée via un script Python : psycopg2 (extraction PostgreSQL) + neo4j-driver (injection Bolt).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1920240" cy="20116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1488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21762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des contraintes d'unicité (ID fait, code département).</a:t>
            </a:r>
            <a:endParaRPr lang="en-US" sz="10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0" y="2743200"/>
            <a:ext cx="201168" cy="20116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2606040" y="1965960"/>
            <a:ext cx="1920240" cy="20116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788920" y="21488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278892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337560" y="21762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788920" y="27432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des nœuds maîtres : Départements, Infractions, Services, Années.</a:t>
            </a:r>
            <a:endParaRPr lang="en-US" sz="10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743200"/>
            <a:ext cx="201168" cy="201168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4754880" y="1965960"/>
            <a:ext cx="1920240" cy="20116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937760" y="21488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7"/>
          <p:cNvSpPr/>
          <p:nvPr/>
        </p:nvSpPr>
        <p:spPr>
          <a:xfrm>
            <a:off x="493776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5486400" y="21762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Nœuds Fait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4937760" y="27432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des nœuds :Fait avec propriété nombre_faits.</a:t>
            </a:r>
            <a:endParaRPr lang="en-US" sz="105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743200"/>
            <a:ext cx="201168" cy="201168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6903720" y="1965960"/>
            <a:ext cx="1920240" cy="20116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086600" y="21488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2"/>
          <p:cNvSpPr/>
          <p:nvPr/>
        </p:nvSpPr>
        <p:spPr>
          <a:xfrm>
            <a:off x="708660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7635240" y="21762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7086600" y="27432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des relations via MERGE entre Fait et dimensions.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640080" y="4160520"/>
            <a:ext cx="7863840" cy="777240"/>
          </a:xfrm>
          <a:prstGeom prst="roundRect">
            <a:avLst>
              <a:gd name="adj" fmla="val 17647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297680"/>
            <a:ext cx="274320" cy="27432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280160" y="425196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 (f:Fait {id_fait: row.id_fait})  →  MERGE (d)-[:HAS_FACT]-&gt;(f)  →  MERGE (f)-[:OF_INFRACTION]-&gt;(i)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1280160" y="4572000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Cypher simplifiée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657600"/>
            <a:ext cx="2286000" cy="1828800"/>
          </a:xfrm>
          <a:prstGeom prst="roundRect">
            <a:avLst>
              <a:gd name="adj" fmla="val 15000"/>
            </a:avLst>
          </a:prstGeom>
          <a:solidFill>
            <a:srgbClr val="1A2744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274320"/>
            <a:ext cx="2286000" cy="1097280"/>
          </a:xfrm>
          <a:prstGeom prst="roundRect">
            <a:avLst>
              <a:gd name="adj" fmla="val 25000"/>
            </a:avLst>
          </a:prstGeom>
          <a:solidFill>
            <a:srgbClr val="14B8A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36576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65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&amp; Vérification de Cohérence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Contrôles post-migration pour garantir la complétude et l'intégrité des données.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920240"/>
            <a:ext cx="2560320" cy="2834640"/>
          </a:xfrm>
          <a:prstGeom prst="roundRect">
            <a:avLst>
              <a:gd name="adj" fmla="val 5357"/>
            </a:avLst>
          </a:prstGeom>
          <a:solidFill>
            <a:srgbClr val="1A2744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103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des volumes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256032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0F1B2D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560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(f:Fait) RETURN count(f)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32461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736 267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868680" y="39776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0D9488">
              <a:alpha val="25000"/>
            </a:srgbClr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087368"/>
            <a:ext cx="201168" cy="20116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280160" y="3977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identiques SQL / Neo4j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474720" y="1920240"/>
            <a:ext cx="2560320" cy="2834640"/>
          </a:xfrm>
          <a:prstGeom prst="roundRect">
            <a:avLst>
              <a:gd name="adj" fmla="val 5357"/>
            </a:avLst>
          </a:prstGeom>
          <a:solidFill>
            <a:srgbClr val="1A2744"/>
          </a:solidFill>
          <a:ln/>
        </p:spPr>
      </p:sp>
      <p:sp>
        <p:nvSpPr>
          <p:cNvPr id="18" name="Text 15"/>
          <p:cNvSpPr/>
          <p:nvPr/>
        </p:nvSpPr>
        <p:spPr>
          <a:xfrm>
            <a:off x="3703320" y="2103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Faits orphelins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703320" y="256032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0F1B2D"/>
          </a:solidFill>
          <a:ln/>
        </p:spPr>
      </p:sp>
      <p:sp>
        <p:nvSpPr>
          <p:cNvPr id="20" name="Text 17"/>
          <p:cNvSpPr/>
          <p:nvPr/>
        </p:nvSpPr>
        <p:spPr>
          <a:xfrm>
            <a:off x="3794760" y="2560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(f:Fait) WHERE NOT ...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703320" y="32461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22" name="Shape 19"/>
          <p:cNvSpPr/>
          <p:nvPr/>
        </p:nvSpPr>
        <p:spPr>
          <a:xfrm>
            <a:off x="3703320" y="39776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0D9488">
              <a:alpha val="25000"/>
            </a:srgbClr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4087368"/>
            <a:ext cx="201168" cy="20116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114800" y="3977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fait sans département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6309360" y="1920240"/>
            <a:ext cx="2560320" cy="2834640"/>
          </a:xfrm>
          <a:prstGeom prst="roundRect">
            <a:avLst>
              <a:gd name="adj" fmla="val 5357"/>
            </a:avLst>
          </a:prstGeom>
          <a:solidFill>
            <a:srgbClr val="1A2744"/>
          </a:solidFill>
          <a:ln/>
        </p:spPr>
      </p:sp>
      <p:sp>
        <p:nvSpPr>
          <p:cNvPr id="26" name="Text 22"/>
          <p:cNvSpPr/>
          <p:nvPr/>
        </p:nvSpPr>
        <p:spPr>
          <a:xfrm>
            <a:off x="6537960" y="2103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métiers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6537960" y="256032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0F1B2D"/>
          </a:solidFill>
          <a:ln/>
        </p:spPr>
      </p:sp>
      <p:sp>
        <p:nvSpPr>
          <p:cNvPr id="28" name="Text 24"/>
          <p:cNvSpPr/>
          <p:nvPr/>
        </p:nvSpPr>
        <p:spPr>
          <a:xfrm>
            <a:off x="6629400" y="2560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(d)-[:HAS_FACT]-&gt;(f)...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6537960" y="32461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OK</a:t>
            </a:r>
            <a:endParaRPr lang="en-US" sz="3600" dirty="0"/>
          </a:p>
        </p:txBody>
      </p:sp>
      <p:sp>
        <p:nvSpPr>
          <p:cNvPr id="30" name="Shape 26"/>
          <p:cNvSpPr/>
          <p:nvPr/>
        </p:nvSpPr>
        <p:spPr>
          <a:xfrm>
            <a:off x="6537960" y="39776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0D9488">
              <a:alpha val="25000"/>
            </a:srgbClr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4087368"/>
            <a:ext cx="201168" cy="20116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949440" y="3977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Agrégations fonctionnelles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"/>
            <a:ext cx="2286000" cy="1097280"/>
          </a:xfrm>
          <a:prstGeom prst="roundRect">
            <a:avLst>
              <a:gd name="adj" fmla="val 25000"/>
            </a:avLst>
          </a:prstGeom>
          <a:solidFill>
            <a:srgbClr val="0D9488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65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Méthodologies de Migration Comparées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2560320" cy="32004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783080"/>
            <a:ext cx="2011680" cy="5486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11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(Python / Pandas)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606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de transformation CSV → format nœuds &amp; relations avant injection.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3383280"/>
            <a:ext cx="2011680" cy="5486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611880"/>
            <a:ext cx="201168" cy="20116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88720" y="35661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complexe et normalisation État 4001 avant import.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474720" y="1554480"/>
            <a:ext cx="2560320" cy="32004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749040" y="1783080"/>
            <a:ext cx="201168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6" name="Text 13"/>
          <p:cNvSpPr/>
          <p:nvPr/>
        </p:nvSpPr>
        <p:spPr>
          <a:xfrm>
            <a:off x="3749040" y="2011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(LOAD CSV)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749040" y="2606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Cypher lit les CSV et crée les structures en une seule passe.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749040" y="3383280"/>
            <a:ext cx="2011680" cy="5486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3611880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023360" y="35661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Rapidité d'exécution, simplicité pour données structurées.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309360" y="1554480"/>
            <a:ext cx="2560320" cy="32004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583680" y="1783080"/>
            <a:ext cx="2011680" cy="5486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23" name="Text 19"/>
          <p:cNvSpPr/>
          <p:nvPr/>
        </p:nvSpPr>
        <p:spPr>
          <a:xfrm>
            <a:off x="6583680" y="2011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Connecteurs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(Neo4j ETL Tool)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583680" y="2606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directe SQL (PostgreSQL / MySQL) → Neo4j.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583680" y="3383280"/>
            <a:ext cx="2011680" cy="5486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611880"/>
            <a:ext cx="201168" cy="20116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858000" y="35661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du mapping clés étrangères → relations.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36576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Maintenance &amp; Ajout de Nouvelles Données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L'évolutivité est un critère majeur pour le Ministère.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3749040" cy="283464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148840"/>
            <a:ext cx="3200400" cy="54864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Relationnelle (SQL)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2834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de nouvelles lignes dans la table des faits. Si nouvelle catégorie d'infraction → mise à jour préalable de la table de référence (clés étrangères).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749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rigide : ALTER TABLE obligatoire pour toute nouvelle dimension.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920240"/>
            <a:ext cx="3749040" cy="283464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0" y="2148840"/>
            <a:ext cx="3200400" cy="5486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Graphe (Neo4j)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0" y="2834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du MERGE Cypher : si le département ou le crime existe déjà, Neo4j crée simplement une nouvelle relation avec annee: 2022.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3749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flexible : nouvelles propriétés à la volée, sans arrêt de service.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"/>
            <a:ext cx="2286000" cy="1097280"/>
          </a:xfrm>
          <a:prstGeom prst="roundRect">
            <a:avLst>
              <a:gd name="adj" fmla="val 25000"/>
            </a:avLst>
          </a:prstGeom>
          <a:solidFill>
            <a:srgbClr val="0D9488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65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Résultats &amp; Recommandations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clés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374904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0312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2057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Croisement PN/GN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325880" y="23774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immédiate de la répartition des efforts de sécurité sur un même territoire.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" y="3200400"/>
            <a:ext cx="374904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3832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3337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territoriale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325880" y="3657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d'une analyse en silo à une analyse de réseau géographique grâce aux adjacences.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7548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4754880" y="1920240"/>
            <a:ext cx="37490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983480" y="210312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5"/>
          <p:cNvSpPr/>
          <p:nvPr/>
        </p:nvSpPr>
        <p:spPr>
          <a:xfrm>
            <a:off x="498348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486400" y="2029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Enrichissement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486400" y="23042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les données de la Justice pour corréler crimes et condamnations.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754880" y="2834640"/>
            <a:ext cx="37490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983480" y="301752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0"/>
          <p:cNvSpPr/>
          <p:nvPr/>
        </p:nvSpPr>
        <p:spPr>
          <a:xfrm>
            <a:off x="498348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5486400" y="2944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5486400" y="32186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Neo4j Bloom pour les analystes DGDSN.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754880" y="3749040"/>
            <a:ext cx="37490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4983480" y="393192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5"/>
          <p:cNvSpPr/>
          <p:nvPr/>
        </p:nvSpPr>
        <p:spPr>
          <a:xfrm>
            <a:off x="498348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5486400" y="3858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5486400" y="41330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Maintenir les contraintes d'unicité pour des temps &lt; 100ms.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1828800"/>
          </a:xfrm>
          <a:prstGeom prst="roundRect">
            <a:avLst>
              <a:gd name="adj" fmla="val 15000"/>
            </a:avLst>
          </a:prstGeom>
          <a:solidFill>
            <a:srgbClr val="0D948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2743200" cy="1828800"/>
          </a:xfrm>
          <a:prstGeom prst="roundRect">
            <a:avLst>
              <a:gd name="adj" fmla="val 15000"/>
            </a:avLst>
          </a:prstGeom>
          <a:solidFill>
            <a:srgbClr val="1A2744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645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731520" y="2377440"/>
            <a:ext cx="1828800" cy="5486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6517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migration vers un modèle graphe ne constitue pas seulement un changement technique, mais une évolution stratégique.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33832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permet au Ministère de l'Intérieur de passer d'une base de données statique à une Base de Connaissances Active, capable de révéler des patterns criminels invisibles dans une structure relationnelle classique.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4389120"/>
            <a:ext cx="3200400" cy="457200"/>
          </a:xfrm>
          <a:prstGeom prst="roundRect">
            <a:avLst>
              <a:gd name="adj" fmla="val 24000"/>
            </a:avLst>
          </a:prstGeom>
          <a:solidFill>
            <a:srgbClr val="1A2744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4389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Connaissances Active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Rapport de Migration - Analyse Graphe Crimes et Délits</dc:title>
  <dc:subject>PptxGenJS Presentation</dc:subject>
  <dc:creator>Franklin BECK, Leon VINCENT-VACLE, Lucas COROMPT</dc:creator>
  <cp:lastModifiedBy>Franklin BECK, Leon VINCENT-VACLE, Lucas COROMPT</cp:lastModifiedBy>
  <cp:revision>1</cp:revision>
  <dcterms:created xsi:type="dcterms:W3CDTF">2026-02-25T14:51:52Z</dcterms:created>
  <dcterms:modified xsi:type="dcterms:W3CDTF">2026-02-25T14:51:52Z</dcterms:modified>
</cp:coreProperties>
</file>