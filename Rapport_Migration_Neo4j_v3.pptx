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200400" cy="1828800"/>
          </a:xfrm>
          <a:prstGeom prst="roundRect">
            <a:avLst>
              <a:gd name="adj" fmla="val 15000"/>
            </a:avLst>
          </a:prstGeom>
          <a:solidFill>
            <a:srgbClr val="0D9488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4114800"/>
            <a:ext cx="2286000" cy="1371600"/>
          </a:xfrm>
          <a:prstGeom prst="roundRect">
            <a:avLst>
              <a:gd name="adj" fmla="val 20000"/>
            </a:avLst>
          </a:prstGeom>
          <a:solidFill>
            <a:srgbClr val="14B8A6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3200400"/>
            <a:ext cx="2743200" cy="2286000"/>
          </a:xfrm>
          <a:prstGeom prst="roundRect">
            <a:avLst>
              <a:gd name="adj" fmla="val 12000"/>
            </a:avLst>
          </a:prstGeom>
          <a:solidFill>
            <a:srgbClr val="1A2744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315200" y="1371600"/>
            <a:ext cx="2743200" cy="2743200"/>
          </a:xfrm>
          <a:prstGeom prst="ellipse">
            <a:avLst/>
          </a:prstGeom>
          <a:solidFill>
            <a:srgbClr val="0D9488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046720" y="1828800"/>
            <a:ext cx="1463040" cy="1463040"/>
          </a:xfrm>
          <a:prstGeom prst="ellipse">
            <a:avLst/>
          </a:prstGeom>
          <a:solidFill>
            <a:srgbClr val="14B8A6">
              <a:alpha val="30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73152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164592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Rapport de Migration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731520" y="25146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Graphe des Crimes et Délits</a:t>
            </a:r>
            <a:endParaRPr lang="en-US" sz="2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 – 2021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731520" y="3520440"/>
            <a:ext cx="1828800" cy="54864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3794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Commanditaire :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Ministère de l'Intérieur (DGDSN)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31520" y="4114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 :  </a:t>
            </a:r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v1.5.9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31520" y="4572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Franklin BECK  ·  Leon VINCENT-VACLE  ·  Lucas COROMPT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274320"/>
            <a:ext cx="2286000" cy="1097280"/>
          </a:xfrm>
          <a:prstGeom prst="roundRect">
            <a:avLst>
              <a:gd name="adj" fmla="val 25000"/>
            </a:avLst>
          </a:prstGeom>
          <a:solidFill>
            <a:srgbClr val="0D9488">
              <a:alpha val="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36576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3657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8229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Inventaire des Ressources et Données Sources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Exploitation des statistiques officielles de la délinquance enregistrée en France sur la décennie 2012-2021, constituant une base de connaissances massive de l'activité judiciaire.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194560"/>
            <a:ext cx="3749040" cy="256032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14400" y="2423160"/>
            <a:ext cx="502920" cy="502920"/>
          </a:xfrm>
          <a:prstGeom prst="ellipse">
            <a:avLst/>
          </a:prstGeom>
          <a:solidFill>
            <a:srgbClr val="F0FDFA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" y="2523744"/>
            <a:ext cx="301752" cy="30175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554480" y="24231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Police Nationale (PN)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914400" y="30175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Intervient dans les Circonscriptions de Sécurité Publique (CSP) couvrant les zones urbaines et grandes agglomérations.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14400" y="3749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1828800" y="3840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fichiers annuels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754880" y="2194560"/>
            <a:ext cx="3749040" cy="256032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029200" y="2423160"/>
            <a:ext cx="502920" cy="502920"/>
          </a:xfrm>
          <a:prstGeom prst="ellipse">
            <a:avLst/>
          </a:prstGeom>
          <a:solidFill>
            <a:srgbClr val="F0FDFA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9784" y="2523744"/>
            <a:ext cx="301752" cy="30175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669280" y="24231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Gendarmerie Nationale (GN)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5029200" y="30175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Intervient via les Compagnies de Gendarmerie Départementale (CGD) sur les zones rurales et périurbaines.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5029200" y="3749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3200" dirty="0"/>
          </a:p>
        </p:txBody>
      </p:sp>
      <p:sp>
        <p:nvSpPr>
          <p:cNvPr id="21" name="Text 17"/>
          <p:cNvSpPr/>
          <p:nvPr/>
        </p:nvSpPr>
        <p:spPr>
          <a:xfrm>
            <a:off x="5943600" y="3840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fichiers annuels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4114800"/>
            <a:ext cx="2286000" cy="1371600"/>
          </a:xfrm>
          <a:prstGeom prst="roundRect">
            <a:avLst>
              <a:gd name="adj" fmla="val 20000"/>
            </a:avLst>
          </a:prstGeom>
          <a:solidFill>
            <a:srgbClr val="F0FDFA">
              <a:alpha val="7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36576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3657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8229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Indicateurs Techniques &amp; Données INSEE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374904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1783080"/>
            <a:ext cx="457200" cy="457200"/>
          </a:xfrm>
          <a:prstGeom prst="ellipse">
            <a:avLst/>
          </a:prstGeom>
          <a:solidFill>
            <a:srgbClr val="F0FDFA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87452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08760" y="1783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Indicateurs Exploités</a:t>
            </a:r>
            <a:endParaRPr lang="en-US" sz="15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468880"/>
            <a:ext cx="228600" cy="228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80160" y="24231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 temporelles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1280160" y="26974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fichiers sources (2012-2021)</a:t>
            </a:r>
            <a:endParaRPr lang="en-US" sz="10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154680"/>
            <a:ext cx="228600" cy="2286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80160" y="31089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Entités géographiques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1280160" y="33832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Répartition par départements</a:t>
            </a:r>
            <a:endParaRPr lang="en-US" sz="10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840480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80160" y="37947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d'activité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1280160" y="40690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Faits constatés par index de criminalité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4754880" y="1554480"/>
            <a:ext cx="374904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5029200" y="1783080"/>
            <a:ext cx="457200" cy="457200"/>
          </a:xfrm>
          <a:prstGeom prst="ellipse">
            <a:avLst/>
          </a:prstGeom>
          <a:solidFill>
            <a:srgbClr val="F0FDFA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0" y="1874520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623560" y="1783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INSEE</a:t>
            </a:r>
            <a:endParaRPr lang="en-US" sz="1500" dirty="0"/>
          </a:p>
        </p:txBody>
      </p:sp>
      <p:sp>
        <p:nvSpPr>
          <p:cNvPr id="24" name="Text 17"/>
          <p:cNvSpPr/>
          <p:nvPr/>
        </p:nvSpPr>
        <p:spPr>
          <a:xfrm>
            <a:off x="5029200" y="2331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population_by_dept_year.csv</a:t>
            </a:r>
            <a:endParaRPr lang="en-US" sz="100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2788920"/>
            <a:ext cx="182880" cy="18288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349240" y="27432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 et libellés des départements</a:t>
            </a:r>
            <a:endParaRPr lang="en-US" sz="1100" dirty="0"/>
          </a:p>
        </p:txBody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0" y="3172968"/>
            <a:ext cx="182880" cy="18288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5349240" y="31272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par tranches d'âge</a:t>
            </a:r>
            <a:endParaRPr lang="en-US" sz="1100" dirty="0"/>
          </a:p>
        </p:txBody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9200" y="3557016"/>
            <a:ext cx="182880" cy="182880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5349240" y="351129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Distinction Hommes / Femmes</a:t>
            </a:r>
            <a:endParaRPr lang="en-US" sz="1100" dirty="0"/>
          </a:p>
        </p:txBody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29200" y="3941064"/>
            <a:ext cx="182880" cy="182880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5349240" y="389534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 du taux de victimation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274320"/>
            <a:ext cx="2286000" cy="1097280"/>
          </a:xfrm>
          <a:prstGeom prst="roundRect">
            <a:avLst>
              <a:gd name="adj" fmla="val 25000"/>
            </a:avLst>
          </a:prstGeom>
          <a:solidFill>
            <a:srgbClr val="0D9488">
              <a:alpha val="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36576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3657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8229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Processus ETL – Nettoyage &amp; Normalisation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 des fichiers sources hétérogènes (Excel, CSV) en données structurées via Python / Pandas.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011680"/>
            <a:ext cx="2560320" cy="274320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14400" y="224028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54480" y="226771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Réunification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292608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des 20 fichiers annuels (PN + GN) en une table unique, alignement sur la nomenclature État 4001.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74720" y="2011680"/>
            <a:ext cx="2560320" cy="274320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749040" y="224028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374904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389120" y="226771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Traitement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749040" y="292608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 du fichier démographique INSEE pour extraire les populations par département et par année.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09360" y="2011680"/>
            <a:ext cx="2560320" cy="274320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583680" y="224028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223760" y="226771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Normalisation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583680" y="292608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Suppression des caractères spéciaux, conversion des types, alignement des codes géographiques (Corse, Outre-mer).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40080" y="36576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657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Cahier des Charges du Modèle Conceptuel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modèle doit répondre aux exigences métiers de la DGDSN.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920240"/>
            <a:ext cx="256032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2148840"/>
            <a:ext cx="2011680" cy="54864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2377440"/>
            <a:ext cx="457200" cy="457200"/>
          </a:xfrm>
          <a:prstGeom prst="ellipse">
            <a:avLst/>
          </a:prstGeom>
          <a:solidFill>
            <a:srgbClr val="F0FDFA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468880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508760" y="24231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 Temporel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914400" y="29718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Comparer l'évolution de la délinquance sur 10 ans.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474720" y="1920240"/>
            <a:ext cx="256032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749040" y="2148840"/>
            <a:ext cx="2011680" cy="5486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15" name="Shape 12"/>
          <p:cNvSpPr/>
          <p:nvPr/>
        </p:nvSpPr>
        <p:spPr>
          <a:xfrm>
            <a:off x="3749040" y="2377440"/>
            <a:ext cx="457200" cy="457200"/>
          </a:xfrm>
          <a:prstGeom prst="ellipse">
            <a:avLst/>
          </a:prstGeom>
          <a:solidFill>
            <a:srgbClr val="F0FDFA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2468880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343400" y="24231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 Territorial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3749040" y="29718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Ventiler les crimes par département et par type de zone (urbaine / rurale).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6309360" y="1920240"/>
            <a:ext cx="256032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583680" y="2148840"/>
            <a:ext cx="2011680" cy="54864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21" name="Shape 17"/>
          <p:cNvSpPr/>
          <p:nvPr/>
        </p:nvSpPr>
        <p:spPr>
          <a:xfrm>
            <a:off x="6583680" y="2377440"/>
            <a:ext cx="457200" cy="457200"/>
          </a:xfrm>
          <a:prstGeom prst="ellipse">
            <a:avLst/>
          </a:prstGeom>
          <a:solidFill>
            <a:srgbClr val="F0FDFA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2468880"/>
            <a:ext cx="274320" cy="27432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7178040" y="24231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 Performance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6583680" y="29718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Calculer des taux de criminalité grâce au croisement avec les données de population.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274320"/>
            <a:ext cx="2286000" cy="1097280"/>
          </a:xfrm>
          <a:prstGeom prst="roundRect">
            <a:avLst>
              <a:gd name="adj" fmla="val 25000"/>
            </a:avLst>
          </a:prstGeom>
          <a:solidFill>
            <a:srgbClr val="0D9488">
              <a:alpha val="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36576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3657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8229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Modèle Logique – Schéma en Étoile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isolant les indicateurs chiffrés (faits) des axes d'analyse (dimensions).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2103120"/>
            <a:ext cx="2743200" cy="118872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2103120"/>
            <a:ext cx="2743200" cy="1188720"/>
          </a:xfrm>
          <a:prstGeom prst="roundRect">
            <a:avLst>
              <a:gd name="adj" fmla="val 11538"/>
            </a:avLst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0" y="2240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FAITS_CRIMINELS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00400" y="26060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Volumes de crimes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Clés étrangères vers dimensions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1828800"/>
            <a:ext cx="2468880" cy="10972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20116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DIM_INFRACTIONS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23774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Libellés des crimes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474720"/>
            <a:ext cx="2468880" cy="10972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" y="36576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DIM_DEPARTEMENTS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40233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 et noms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17920" y="1828800"/>
            <a:ext cx="2468880" cy="10972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00800" y="20116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DIM_SERVICES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0" y="23774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/ GN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17920" y="3474720"/>
            <a:ext cx="2468880" cy="10972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00800" y="36576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DIM_TEMPS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0" y="40233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Années 2012-2021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0" y="3749040"/>
            <a:ext cx="2743200" cy="100584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200400" y="3886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STAT_POPULATION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200400" y="4206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INSEE par département/année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40080" y="36576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657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 Relationnelle – Pivot &amp; Limites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374904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1737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du Modèle Pivot</a:t>
            </a:r>
            <a:endParaRPr lang="en-US" sz="15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258568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22402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234440" y="248716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(Police / Gendarmerie) et rattachement</a:t>
            </a:r>
            <a:endParaRPr lang="en-US" sz="10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898648"/>
            <a:ext cx="201168" cy="2011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34440" y="28803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Geographie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1234440" y="312724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Départements et population totale INSEE</a:t>
            </a:r>
            <a:endParaRPr lang="en-US" sz="10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538728"/>
            <a:ext cx="201168" cy="20116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34440" y="35204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Nomenclature_4001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1234440" y="376732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Référentiel des libellés d'infractions</a:t>
            </a:r>
            <a:endParaRPr lang="en-US" sz="10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178808"/>
            <a:ext cx="201168" cy="20116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34440" y="41605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Faits_Criminels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1234440" y="440740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Mesures (Quantité, Année)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4754880" y="1554480"/>
            <a:ext cx="374904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5029200" y="1783080"/>
            <a:ext cx="3200400" cy="54864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/>
        </p:spPr>
      </p:sp>
      <p:sp>
        <p:nvSpPr>
          <p:cNvPr id="22" name="Text 16"/>
          <p:cNvSpPr/>
          <p:nvPr/>
        </p:nvSpPr>
        <p:spPr>
          <a:xfrm>
            <a:off x="5029200" y="20116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identifiées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5029200" y="2514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Jointures coûteuses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029200" y="27889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Corrélations population / crimes sur départements voisins : saturation des ressources.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5029200" y="3383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Rigidité du schéma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5029200" y="36576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L'ajout de nouvelles dimensions géographiques (adjacences) complexifie le schéma SQL.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3657600"/>
            <a:ext cx="2286000" cy="1828800"/>
          </a:xfrm>
          <a:prstGeom prst="roundRect">
            <a:avLst>
              <a:gd name="adj" fmla="val 15000"/>
            </a:avLst>
          </a:prstGeom>
          <a:solidFill>
            <a:srgbClr val="1A2744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274320"/>
            <a:ext cx="2286000" cy="1097280"/>
          </a:xfrm>
          <a:prstGeom prst="roundRect">
            <a:avLst>
              <a:gd name="adj" fmla="val 25000"/>
            </a:avLst>
          </a:prstGeom>
          <a:solidFill>
            <a:srgbClr val="14B8A6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36576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657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8229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Migration vers Neo4j – Nœuds &amp; Relations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13716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migration est une transformation structurelle, pas une simple copie.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920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Nœuds (Entités)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2377440"/>
            <a:ext cx="3657600" cy="457200"/>
          </a:xfrm>
          <a:prstGeom prst="roundRect">
            <a:avLst>
              <a:gd name="adj" fmla="val 20000"/>
            </a:avLst>
          </a:prstGeom>
          <a:solidFill>
            <a:srgbClr val="1A2744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377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:TypeCrime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377440" y="23774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Vols, Violences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926080"/>
            <a:ext cx="3657600" cy="457200"/>
          </a:xfrm>
          <a:prstGeom prst="roundRect">
            <a:avLst>
              <a:gd name="adj" fmla="val 20000"/>
            </a:avLst>
          </a:prstGeom>
          <a:solidFill>
            <a:srgbClr val="1A2744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29260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:Departement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377440" y="29260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75, 13, 2A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3474720"/>
            <a:ext cx="3657600" cy="457200"/>
          </a:xfrm>
          <a:prstGeom prst="roundRect">
            <a:avLst>
              <a:gd name="adj" fmla="val 20000"/>
            </a:avLst>
          </a:prstGeom>
          <a:solidFill>
            <a:srgbClr val="1A2744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34747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:Service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377440" y="34747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Police, Gendarmerie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4023360"/>
            <a:ext cx="3657600" cy="457200"/>
          </a:xfrm>
          <a:prstGeom prst="roundRect">
            <a:avLst>
              <a:gd name="adj" fmla="val 20000"/>
            </a:avLst>
          </a:prstGeom>
          <a:solidFill>
            <a:srgbClr val="1A2744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40233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:Annee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377440" y="40233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2012 ... 2021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0" y="19202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 (Actions)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754880" y="2377440"/>
            <a:ext cx="4114800" cy="502920"/>
          </a:xfrm>
          <a:prstGeom prst="roundRect">
            <a:avLst>
              <a:gd name="adj" fmla="val 18182"/>
            </a:avLst>
          </a:prstGeom>
          <a:solidFill>
            <a:srgbClr val="1A2744"/>
          </a:solidFill>
          <a:ln/>
        </p:spPr>
      </p:sp>
      <p:sp>
        <p:nvSpPr>
          <p:cNvPr id="25" name="Text 23"/>
          <p:cNvSpPr/>
          <p:nvPr/>
        </p:nvSpPr>
        <p:spPr>
          <a:xfrm>
            <a:off x="4983480" y="23774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F6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(Service)-[:ENREGISTRE {quantite}]-&gt;(TypeCrime)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2971800"/>
            <a:ext cx="4114800" cy="502920"/>
          </a:xfrm>
          <a:prstGeom prst="roundRect">
            <a:avLst>
              <a:gd name="adj" fmla="val 18182"/>
            </a:avLst>
          </a:prstGeom>
          <a:solidFill>
            <a:srgbClr val="1A2744"/>
          </a:solidFill>
          <a:ln/>
        </p:spPr>
      </p:sp>
      <p:sp>
        <p:nvSpPr>
          <p:cNvPr id="27" name="Text 25"/>
          <p:cNvSpPr/>
          <p:nvPr/>
        </p:nvSpPr>
        <p:spPr>
          <a:xfrm>
            <a:off x="4983480" y="29718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F6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(Service)-[:EST_RATTACHE_A]-&gt;(Departement)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3566160"/>
            <a:ext cx="4114800" cy="502920"/>
          </a:xfrm>
          <a:prstGeom prst="roundRect">
            <a:avLst>
              <a:gd name="adj" fmla="val 18182"/>
            </a:avLst>
          </a:prstGeom>
          <a:solidFill>
            <a:srgbClr val="1A2744"/>
          </a:solidFill>
          <a:ln/>
        </p:spPr>
      </p:sp>
      <p:sp>
        <p:nvSpPr>
          <p:cNvPr id="29" name="Text 27"/>
          <p:cNvSpPr/>
          <p:nvPr/>
        </p:nvSpPr>
        <p:spPr>
          <a:xfrm>
            <a:off x="4983480" y="35661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F6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(Departement)-[:EST_LIMITROPHE_DE]-&gt;(Departement)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274320"/>
            <a:ext cx="2286000" cy="1097280"/>
          </a:xfrm>
          <a:prstGeom prst="roundRect">
            <a:avLst>
              <a:gd name="adj" fmla="val 25000"/>
            </a:avLst>
          </a:prstGeom>
          <a:solidFill>
            <a:srgbClr val="0D9488">
              <a:alpha val="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36576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3657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8229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Stratégie de Transformation &amp; Migration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640080" y="1645920"/>
            <a:ext cx="2377440" cy="20116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8680" y="1874520"/>
            <a:ext cx="548640" cy="320040"/>
          </a:xfrm>
          <a:prstGeom prst="roundRect">
            <a:avLst>
              <a:gd name="adj" fmla="val 48571"/>
            </a:avLst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1874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554480" y="18745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68680" y="237744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Récupération des données nettoyées depuis le dossier data/processed/.</a:t>
            </a:r>
            <a:endParaRPr lang="en-US" sz="11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8960" y="2468880"/>
            <a:ext cx="274320" cy="27432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3474720" y="1645920"/>
            <a:ext cx="2377440" cy="20116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703320" y="1874520"/>
            <a:ext cx="548640" cy="320040"/>
          </a:xfrm>
          <a:prstGeom prst="roundRect">
            <a:avLst>
              <a:gd name="adj" fmla="val 48571"/>
            </a:avLst>
          </a:prstGeom>
          <a:solidFill>
            <a:srgbClr val="2563EB"/>
          </a:solidFill>
          <a:ln/>
        </p:spPr>
      </p:sp>
      <p:sp>
        <p:nvSpPr>
          <p:cNvPr id="15" name="Text 12"/>
          <p:cNvSpPr/>
          <p:nvPr/>
        </p:nvSpPr>
        <p:spPr>
          <a:xfrm>
            <a:off x="3703320" y="1874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389120" y="18745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3703320" y="237744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ligne CSV → relation :ENREGISTRE entre :Service et :TypeCrime.</a:t>
            </a:r>
            <a:endParaRPr lang="en-US" sz="11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468880"/>
            <a:ext cx="274320" cy="27432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6309360" y="1645920"/>
            <a:ext cx="2377440" cy="20116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537960" y="1874520"/>
            <a:ext cx="548640" cy="320040"/>
          </a:xfrm>
          <a:prstGeom prst="roundRect">
            <a:avLst>
              <a:gd name="adj" fmla="val 48571"/>
            </a:avLst>
          </a:prstGeom>
          <a:solidFill>
            <a:srgbClr val="F59E0B"/>
          </a:solidFill>
          <a:ln/>
        </p:spPr>
      </p:sp>
      <p:sp>
        <p:nvSpPr>
          <p:cNvPr id="21" name="Text 17"/>
          <p:cNvSpPr/>
          <p:nvPr/>
        </p:nvSpPr>
        <p:spPr>
          <a:xfrm>
            <a:off x="6537960" y="1874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7223760" y="18745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Enrichissement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6537960" y="237744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des adjacences pour lier les :Departement via :EST_LIMITROPHE.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640080" y="3931920"/>
            <a:ext cx="7863840" cy="9144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114800"/>
            <a:ext cx="320040" cy="32004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1371600" y="406908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via LOAD CSV  +  contraintes d'unicité  +  MERGE Cypher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1371600" y="43434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des nœuds maîtres (Départements, Crimes) puis des relations avec propriétés quantitatives.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40080" y="36576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657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Méthodologies de Migration Comparées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2560320" cy="320040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1783080"/>
            <a:ext cx="2011680" cy="54864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0116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(Python / Pandas)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24688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de transformation CSV → format nœuds &amp; relations avant injection.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14400" y="3383280"/>
            <a:ext cx="2011680" cy="5486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611880"/>
            <a:ext cx="201168" cy="20116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188720" y="356616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 complexe et normalisation État 4001 avant import.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474720" y="1554480"/>
            <a:ext cx="2560320" cy="320040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749040" y="1783080"/>
            <a:ext cx="2011680" cy="5486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15" name="Text 12"/>
          <p:cNvSpPr/>
          <p:nvPr/>
        </p:nvSpPr>
        <p:spPr>
          <a:xfrm>
            <a:off x="3749040" y="20116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Directe (LOAD CSV)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3749040" y="24688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Moteur Cypher lit les CSV et crée les structures en une seule passe.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749040" y="3383280"/>
            <a:ext cx="2011680" cy="5486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3611880"/>
            <a:ext cx="201168" cy="20116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023360" y="356616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Rapidité d'exécution, simplicité pour données structurées.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6309360" y="1554480"/>
            <a:ext cx="2560320" cy="320040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583680" y="1783080"/>
            <a:ext cx="2011680" cy="54864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22" name="Text 18"/>
          <p:cNvSpPr/>
          <p:nvPr/>
        </p:nvSpPr>
        <p:spPr>
          <a:xfrm>
            <a:off x="6583680" y="20116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Connecteurs (Neo4j ETL Tool)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6583680" y="24688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 directe SQL (PostgreSQL / MySQL) → Neo4j.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6583680" y="3383280"/>
            <a:ext cx="2011680" cy="5486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3611880"/>
            <a:ext cx="201168" cy="201168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858000" y="356616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Automatisation du mapping clés étrangères → relations.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274320"/>
            <a:ext cx="2286000" cy="1097280"/>
          </a:xfrm>
          <a:prstGeom prst="roundRect">
            <a:avLst>
              <a:gd name="adj" fmla="val 25000"/>
            </a:avLst>
          </a:prstGeom>
          <a:solidFill>
            <a:srgbClr val="0D9488">
              <a:alpha val="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36576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3657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8229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Maintenance &amp; Ajout de Nouvelles Données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L'évolutivité est un critère majeur pour le Ministère.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1920240"/>
            <a:ext cx="3749040" cy="2834640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14400" y="2148840"/>
            <a:ext cx="3200400" cy="54864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377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Relationnelle (SQL)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28346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Insertion de nouvelles lignes dans la table des faits. Si nouvelle catégorie d'infraction → mise à jour préalable de la table de référence (clés étrangères).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37490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Schéma rigide : ALTER TABLE obligatoire pour toute nouvelle dimension.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1920240"/>
            <a:ext cx="3749040" cy="2834640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0" y="2148840"/>
            <a:ext cx="3200400" cy="54864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0" y="2377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Graphe (Neo4j)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029200" y="28346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Utilisation du MERGE Cypher : si le département ou le crime existe déjà, Neo4j crée simplement une nouvelle relation :ENREGISTRE avec annee: 2022.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0" y="37490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Schéma flexible : nouvelles propriétés à la volée, sans arrêt de service.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40080" y="36576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657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Résultats &amp; Recommandations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clés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1920240"/>
            <a:ext cx="3749040" cy="10972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10312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25880" y="20574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Croisement PN/GN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325880" y="23774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 immédiate de la répartition des efforts de sécurité sur un même territoire.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0080" y="3200400"/>
            <a:ext cx="3749040" cy="10972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38328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25880" y="33375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territoriale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325880" y="36576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Passage d'une analyse en silo à une analyse de réseau géographique grâce aux adjacences.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754880" y="1463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Recommandations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4754880" y="1920240"/>
            <a:ext cx="374904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983480" y="210312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8" name="Text 14"/>
          <p:cNvSpPr/>
          <p:nvPr/>
        </p:nvSpPr>
        <p:spPr>
          <a:xfrm>
            <a:off x="498348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5486400" y="20299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Enrichissement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5486400" y="23042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Intégrer les données de la Justice pour corréler crimes et condamnations.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4754880" y="2834640"/>
            <a:ext cx="374904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4983480" y="301752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3" name="Text 19"/>
          <p:cNvSpPr/>
          <p:nvPr/>
        </p:nvSpPr>
        <p:spPr>
          <a:xfrm>
            <a:off x="4983480" y="3017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5486400" y="29443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5486400" y="32186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Déployer Neo4j Bloom pour les analystes DGDSN.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4754880" y="3749040"/>
            <a:ext cx="374904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4983480" y="393192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8" name="Text 24"/>
          <p:cNvSpPr/>
          <p:nvPr/>
        </p:nvSpPr>
        <p:spPr>
          <a:xfrm>
            <a:off x="4983480" y="3931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5486400" y="38587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5486400" y="41330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Maintenir les contraintes d'unicité pour des temps &lt; 100ms.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200400" cy="1828800"/>
          </a:xfrm>
          <a:prstGeom prst="roundRect">
            <a:avLst>
              <a:gd name="adj" fmla="val 15000"/>
            </a:avLst>
          </a:prstGeom>
          <a:solidFill>
            <a:srgbClr val="0D9488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3657600"/>
            <a:ext cx="2743200" cy="1828800"/>
          </a:xfrm>
          <a:prstGeom prst="roundRect">
            <a:avLst>
              <a:gd name="adj" fmla="val 15000"/>
            </a:avLst>
          </a:prstGeom>
          <a:solidFill>
            <a:srgbClr val="1A2744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0" y="3200400"/>
            <a:ext cx="2743200" cy="2743200"/>
          </a:xfrm>
          <a:prstGeom prst="ellipse">
            <a:avLst/>
          </a:prstGeom>
          <a:solidFill>
            <a:srgbClr val="0D9488">
              <a:alpha val="15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91440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1645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7" name="Shape 4"/>
          <p:cNvSpPr/>
          <p:nvPr/>
        </p:nvSpPr>
        <p:spPr>
          <a:xfrm>
            <a:off x="731520" y="2377440"/>
            <a:ext cx="1828800" cy="54864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265176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migration vers un modèle graphe ne constitue pas seulement un changement technique, mais une évolution stratégique.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31520" y="338328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permet au Ministère de l'Intérieur de passer d'une base de données statique à une Base de Connaissances Active, capable de révéler des patterns criminels invisibles dans une structure relationnelle classique.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31520" y="4389120"/>
            <a:ext cx="3200400" cy="4572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31520" y="4389120"/>
            <a:ext cx="3200400" cy="457200"/>
          </a:xfrm>
          <a:prstGeom prst="roundRect">
            <a:avLst>
              <a:gd name="adj" fmla="val 24000"/>
            </a:avLst>
          </a:prstGeom>
          <a:solidFill>
            <a:srgbClr val="1A2744"/>
          </a:solidFill>
          <a:ln/>
        </p:spPr>
      </p:sp>
      <p:sp>
        <p:nvSpPr>
          <p:cNvPr id="12" name="Text 9"/>
          <p:cNvSpPr/>
          <p:nvPr/>
        </p:nvSpPr>
        <p:spPr>
          <a:xfrm>
            <a:off x="731520" y="43891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Connaissances Active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Rapport de Migration - Analyse Graphe Crimes et Délits</dc:title>
  <dc:subject>PptxGenJS Presentation</dc:subject>
  <dc:creator>Franklin BECK, Leon VINCENT-VACLE, Lucas COROMPT</dc:creator>
  <cp:lastModifiedBy>Franklin BECK, Leon VINCENT-VACLE, Lucas COROMPT</cp:lastModifiedBy>
  <cp:revision>1</cp:revision>
  <dcterms:created xsi:type="dcterms:W3CDTF">2026-02-25T14:03:21Z</dcterms:created>
  <dcterms:modified xsi:type="dcterms:W3CDTF">2026-02-25T14:03:21Z</dcterms:modified>
</cp:coreProperties>
</file>