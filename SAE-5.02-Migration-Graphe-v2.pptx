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21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560320"/>
            <a:ext cx="6400800" cy="4572000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943600" cy="4572000"/>
          </a:xfrm>
          <a:prstGeom prst="ellipse">
            <a:avLst/>
          </a:prstGeom>
          <a:solidFill>
            <a:srgbClr val="0B8FA8">
              <a:alpha val="45000"/>
            </a:srgbClr>
          </a:solidFill>
          <a:ln w="12700">
            <a:solidFill>
              <a:srgbClr val="0B8FA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926080"/>
            <a:ext cx="4114800" cy="3200400"/>
          </a:xfrm>
          <a:prstGeom prst="ellipse">
            <a:avLst/>
          </a:prstGeom>
          <a:solidFill>
            <a:srgbClr val="13C4C4">
              <a:alpha val="25000"/>
            </a:srgbClr>
          </a:solidFill>
          <a:ln w="12700">
            <a:solidFill>
              <a:srgbClr val="13C4C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846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75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SAE-5.02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BDD </a:t>
            </a:r>
            <a:r>
              <a:rPr lang="en-US" sz="3000" i="1" dirty="0" err="1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Relationnelle</a:t>
            </a:r>
            <a:r>
              <a:rPr lang="en-US" sz="3000" i="1" dirty="0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r>
              <a:rPr lang="en-US" sz="3000" i="1" dirty="0" err="1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</a:t>
            </a:r>
            <a:r>
              <a:rPr lang="en-US" sz="3000" i="1" dirty="0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i="1" dirty="0" err="1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crimes et délits enregistrés par la Police et la Gendarmerie (2012–2021)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1605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502920" y="4151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41605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4151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41605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4151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0" y="41605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4151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l'Intérieur · DGDSN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8229600" cy="45720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527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1527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9824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Relationnelle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42316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" y="2624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06424" y="2670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modèle 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26243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9824" y="2670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Graphe Neo4j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" y="3721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6424" y="3767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Exploitation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3721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9824" y="3767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011680"/>
            <a:ext cx="7315200" cy="41148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9888" y="256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Objectifs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960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Ministère de l'Intérieur souhaite moderniser ses outils d'analyse statistique.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relationnelles atteignent leurs limites pour des analyses complexes : jointures multiples entre départements, brigades et types de crimes.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(modèle graphe) offre une représentation naturelle des relations et de meilleures performances sur les traversées.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841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</a:t>
            </a:r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43434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435608"/>
            <a:ext cx="54864" cy="320040"/>
          </a:xfrm>
          <a:prstGeom prst="roundRect">
            <a:avLst>
              <a:gd name="adj" fmla="val 29166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1618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des données 2012–2021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984248"/>
            <a:ext cx="43434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2093976"/>
            <a:ext cx="54864" cy="320040"/>
          </a:xfrm>
          <a:prstGeom prst="roundRect">
            <a:avLst>
              <a:gd name="adj" fmla="val 29166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299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: depts, brigades, crimes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2642616"/>
            <a:ext cx="43434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752344"/>
            <a:ext cx="54864" cy="320040"/>
          </a:xfrm>
          <a:prstGeom prst="roundRect">
            <a:avLst>
              <a:gd name="adj" fmla="val 29166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2935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publiques (adjacences, pop.)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300984"/>
            <a:ext cx="43434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410712"/>
            <a:ext cx="54864" cy="320040"/>
          </a:xfrm>
          <a:prstGeom prst="roundRect">
            <a:avLst>
              <a:gd name="adj" fmla="val 291667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3467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00600" y="3593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proprement vers Neo4j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3959352"/>
            <a:ext cx="43434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4069080"/>
            <a:ext cx="54864" cy="320040"/>
          </a:xfrm>
          <a:prstGeom prst="roundRect">
            <a:avLst>
              <a:gd name="adj" fmla="val 291667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4251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reproductibles et commentés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011680"/>
            <a:ext cx="7315200" cy="41148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9888" y="256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Modélisation Relationnelle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Entités principales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417320"/>
            <a:ext cx="201168" cy="20116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2893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527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nom, code_region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084832"/>
            <a:ext cx="201168" cy="20116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1945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69464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752344"/>
            <a:ext cx="201168" cy="20116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6243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Brigade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8620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PN / 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236976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419856"/>
            <a:ext cx="201168" cy="20116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291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TypeCrime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5295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libellé, catégorie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904488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4087368"/>
            <a:ext cx="201168" cy="201168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9593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StatsCrime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" y="41970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nb_faits, taux, annee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Logique Relationnel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0" y="1234440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1234440"/>
            <a:ext cx="4206240" cy="1920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DEPARTEMENT(code PK, nom, code_region 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REGION(code PK, nom)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BRIGADE(id PK, type)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TYPE_CRIME(code PK, libelle, categorie)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POPULATION(code_dept FK, annee, nb_hab)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STATS(id PK, code_dept FK, code_crime FK,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id_brigade FK, annee, nb_faits, taux)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3291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Implémentation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17720" y="3767328"/>
            <a:ext cx="137160" cy="13716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03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fusion CSV/XLSX via Python (pandas)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4096512"/>
            <a:ext cx="137160" cy="13716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032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schéma SQL — schema_crimes.sql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4425696"/>
            <a:ext cx="137160" cy="13716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3616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via create_and_load_db.py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4754880"/>
            <a:ext cx="137160" cy="13716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690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données population INSEE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011680"/>
            <a:ext cx="7315200" cy="41148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9888" y="256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du Modèle Relationnel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914400"/>
            <a:ext cx="347472" cy="347472"/>
          </a:xfrm>
          <a:prstGeom prst="ellipse">
            <a:avLst/>
          </a:prstGeom>
          <a:solidFill>
            <a:srgbClr val="FC6868"/>
          </a:solidFill>
          <a:ln w="12700">
            <a:solidFill>
              <a:srgbClr val="FC68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9144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des requêtes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liens entre départements, brigades et types de crimes exige de multiples jointures SQL imbriquées, rendant le code difficile à lire et maintenir.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724912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724912"/>
            <a:ext cx="2542032" cy="1874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d.nom, t.libelle, sum(s.nb_faits)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dept d ON s.code_dept=d.code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brigade b ON s.id_brigade=b.id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type_crime t ON s.code_crime=t.code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d.nom, t.libelle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914400"/>
            <a:ext cx="347472" cy="347472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9144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voisinage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3716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les départements voisins ayant un profil criminel similaire nécessite des auto-jointures récursives coûteuses, non naturelles en SQL.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0128" y="2724912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724912"/>
            <a:ext cx="2542032" cy="1874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Non natif en SQL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Auto-jointure O(n²)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Pas de notion de chemin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Performances dégradées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sur grands volumes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0488" y="914400"/>
            <a:ext cx="347472" cy="347472"/>
          </a:xfrm>
          <a:prstGeom prst="ellipse">
            <a:avLst/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9144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Graphe : 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+ arêtes représentent naturellement les entités et relations. Les traversées deviennent intuitives et performantes avec Cypher.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0488" y="2724912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2724912"/>
            <a:ext cx="2542032" cy="1874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(d:Dept {nom:'Rhône'})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-[:A_BRIGADE]-&gt;(b)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-[r:ENREGISTRE]-&gt;(c)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c.libelle,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sum(r.nb_faits) AS total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 DESC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6400800" cy="6400800"/>
          </a:xfrm>
          <a:prstGeom prst="ellipse">
            <a:avLst/>
          </a:prstGeom>
          <a:solidFill>
            <a:srgbClr val="0B8FA8">
              <a:alpha val="15000"/>
            </a:srgbClr>
          </a:solidFill>
          <a:ln w="12700">
            <a:solidFill>
              <a:srgbClr val="0B8FA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3657600"/>
          </a:xfrm>
          <a:prstGeom prst="ellipse">
            <a:avLst/>
          </a:prstGeom>
          <a:solidFill>
            <a:srgbClr val="13C4C4">
              <a:alpha val="10000"/>
            </a:srgbClr>
          </a:solidFill>
          <a:ln w="12700">
            <a:solidFill>
              <a:srgbClr val="13C4C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7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89888" y="2194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Graphe Neo4j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Nœuds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07592"/>
            <a:ext cx="237744" cy="237744"/>
          </a:xfrm>
          <a:prstGeom prst="ellipse">
            <a:avLst/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1887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(:Departement)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nom, code_region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37944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002536"/>
            <a:ext cx="237744" cy="237744"/>
          </a:xfrm>
          <a:prstGeom prst="ellipse">
            <a:avLst/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88366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(:Region)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1396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32888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97480"/>
            <a:ext cx="237744" cy="237744"/>
          </a:xfrm>
          <a:prstGeom prst="ellipse">
            <a:avLst/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5786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(:Brigade)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834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(PN / GN)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92424"/>
            <a:ext cx="237744" cy="237744"/>
          </a:xfrm>
          <a:prstGeom prst="ellipse">
            <a:avLst/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27355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(:TypeCrime)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libelle, categorie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22776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87368"/>
            <a:ext cx="237744" cy="237744"/>
          </a:xfrm>
          <a:prstGeom prst="ellipse">
            <a:avLst/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9684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(:Annee)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2012–2021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731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C4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143000"/>
            <a:ext cx="40690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307592"/>
            <a:ext cx="237744" cy="23774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18872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[:APPARTIENT_A]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444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→ Region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837944"/>
            <a:ext cx="40690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002536"/>
            <a:ext cx="237744" cy="23774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88366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[:A_BRIGADE]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139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→ Brigade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532888"/>
            <a:ext cx="40690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697480"/>
            <a:ext cx="237744" cy="23774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257860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[:ENREGISTRE]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28346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Brigade → TypeCrime  (faits, taux, annee)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227832"/>
            <a:ext cx="40690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392424"/>
            <a:ext cx="237744" cy="23774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27355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[:VOISIN_DE]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5295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↔ Dept  (géographie)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922776"/>
            <a:ext cx="4069080" cy="566928"/>
          </a:xfrm>
          <a:prstGeom prst="roundRect">
            <a:avLst>
              <a:gd name="adj" fmla="val 1935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4087368"/>
            <a:ext cx="237744" cy="23774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96849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[:DURANT]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4224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→ Annee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681728"/>
            <a:ext cx="8229600" cy="320040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: scripts Python (neo4j driver + pandas) · Fichiers Cypher pour contraintes et index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011680"/>
            <a:ext cx="7315200" cy="41148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9888" y="256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 de Migration Python / Cypher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nœuds Département — Python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321040" cy="1508760"/>
          </a:xfrm>
          <a:prstGeom prst="roundRect">
            <a:avLst>
              <a:gd name="adj" fmla="val 7273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70432"/>
            <a:ext cx="8321040" cy="15087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neo4j import GraphDatabase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= GraphDatabase.driver("bolt://localhost:7687", auth=("neo4j", "password"))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driver.session() as session: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df_depts.itertuples():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session.run(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"MERGE (d:Departement {code: $code}) SET d.nom = $nom, d.code_region = $reg",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code=row.code_dept, nom=row.nom, reg=row.code_region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relations ENREGISTRE — Cypher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8321040" cy="1280160"/>
          </a:xfrm>
          <a:prstGeom prst="roundRect">
            <a:avLst>
              <a:gd name="adj" fmla="val 8571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63824"/>
            <a:ext cx="8321040" cy="12801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Lier Brigade → TypeCrime avec propriétés statistiques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(b:Brigade {type: $brigade}), (c:TypeCrime {code: $code_crime})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(b)-[r:ENREGISTRE {annee: $annee, code_dept: $code_dept}]-&gt;(c)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r.nb_faits = $nb_faits, r.taux = $taux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: merge_and_clean_crimes.py · create_and_load_db.py · process_population.py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011680"/>
            <a:ext cx="7315200" cy="41148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9888" y="256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&amp; Exploitation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896112"/>
            <a:ext cx="274320" cy="27432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886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crimes par département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1261872"/>
            <a:ext cx="2542032" cy="3063240"/>
          </a:xfrm>
          <a:prstGeom prst="roundRect">
            <a:avLst>
              <a:gd name="adj" fmla="val 4317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261872"/>
            <a:ext cx="2542032" cy="3063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(d:Departement {nom:'Rhône'})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-[:A_BRIGADE]-&gt;(b)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-[r:ENREGISTRE]-&gt;(c:TypeCrime)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c.libelle, sum(r.nb_faits) AS 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 DESC LIMIT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896112"/>
            <a:ext cx="274320" cy="27432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886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Brigades ↔ Départements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261872"/>
            <a:ext cx="2542032" cy="3063240"/>
          </a:xfrm>
          <a:prstGeom prst="roundRect">
            <a:avLst>
              <a:gd name="adj" fmla="val 4317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61872"/>
            <a:ext cx="2542032" cy="3063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(b:Brigade)&lt;-[:A_BRIGADE]-(d:Departement)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b.type,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collect(d.nom) AS depts,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size(collect(d.nom)) AS nb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nb DESC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804672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896112"/>
            <a:ext cx="274320" cy="274320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886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 voisins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1261872"/>
            <a:ext cx="2542032" cy="3063240"/>
          </a:xfrm>
          <a:prstGeom prst="roundRect">
            <a:avLst>
              <a:gd name="adj" fmla="val 4317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261872"/>
            <a:ext cx="2542032" cy="3063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(d1:Departement)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-[:VOISIN_DE]-(d2:Departement)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d1.nom = 'Rhône'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3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d2.nom, d2.code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681728"/>
            <a:ext cx="8412480" cy="32004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Cohérence vérifiée : totaux SQL vs Cypher · Tolérance &lt; 0,1% sur l'ensemble des années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011680"/>
            <a:ext cx="7315200" cy="41148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9888" y="256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vs Neo4j — Comparaison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411480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822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502920"/>
          </a:xfrm>
          <a:prstGeom prst="roundRect">
            <a:avLst>
              <a:gd name="adj" fmla="val 21818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25880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agrégat simple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4924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417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417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892808"/>
            <a:ext cx="8412480" cy="502920"/>
          </a:xfrm>
          <a:prstGeom prst="roundRect">
            <a:avLst>
              <a:gd name="adj" fmla="val 21818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92808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multiples (3+)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1892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49240" y="1892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198424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98424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459736"/>
            <a:ext cx="8412480" cy="502920"/>
          </a:xfrm>
          <a:prstGeom prst="roundRect">
            <a:avLst>
              <a:gd name="adj" fmla="val 21818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59736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voisinage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24597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 / lent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49240" y="245973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ms natif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0" y="255117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55117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21818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26664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du code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0" y="30266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imbriquées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9240" y="30266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intuitif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0" y="311810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1181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593592"/>
            <a:ext cx="8412480" cy="502920"/>
          </a:xfrm>
          <a:prstGeom prst="roundRect">
            <a:avLst>
              <a:gd name="adj" fmla="val 21818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93592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d'une relation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schéma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49240" y="3593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Arête simple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98080" y="36850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36850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160520"/>
            <a:ext cx="8412480" cy="502920"/>
          </a:xfrm>
          <a:prstGeom prst="roundRect">
            <a:avLst>
              <a:gd name="adj" fmla="val 21818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initial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 (bulk insert)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4924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s (batch)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98080" y="42519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42519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excelle sur les requêtes relationnelles complexes ; SQLite reste plus rapide pour les agrégats simples.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011680"/>
            <a:ext cx="7315200" cy="4114800"/>
          </a:xfrm>
          <a:prstGeom prst="ellipse">
            <a:avLst/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9888" y="256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Livrables &amp; Conclusion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896112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869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146304" cy="14630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4173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(entité-relation)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39696"/>
            <a:ext cx="146304" cy="14630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0208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Logique (MLD.md)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146304" cy="14630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24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(schema_crimes.sql)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346704"/>
            <a:ext cx="146304" cy="14630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2278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de chargement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146304" cy="146304"/>
          </a:xfrm>
          <a:prstGeom prst="ellipse">
            <a:avLst/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8313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SQLite (crimes_database.db)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896112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8869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Graphe Neo4j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1536192"/>
            <a:ext cx="146304" cy="146304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14173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nœuds et relations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139696"/>
            <a:ext cx="146304" cy="146304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0208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migration Python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2743200"/>
            <a:ext cx="146304" cy="146304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624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Cypher commentées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346704"/>
            <a:ext cx="146304" cy="146304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2278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et contraintes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3950208"/>
            <a:ext cx="146304" cy="146304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8313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incrémentale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804672"/>
            <a:ext cx="274320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90488" y="896112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8869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1536192"/>
            <a:ext cx="146304" cy="14630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14173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final complet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3640" y="2139696"/>
            <a:ext cx="146304" cy="14630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0208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RUN_PROCESS.md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2743200"/>
            <a:ext cx="146304" cy="14630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2624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SQL vs Cypher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3346704"/>
            <a:ext cx="146304" cy="14630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322783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résultats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3950208"/>
            <a:ext cx="146304" cy="14630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38313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synthétique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50000"/>
            </a:avLst>
          </a:prstGeom>
          <a:solidFill>
            <a:srgbClr val="0F1D2E"/>
          </a:solidFill>
          <a:ln w="12700">
            <a:solidFill>
              <a:srgbClr val="0F1D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scripts sont reproductibles, commentés et prévoient une alimentation incrémentale.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400800" cy="5486400"/>
          </a:xfrm>
          <a:prstGeom prst="ellipse">
            <a:avLst/>
          </a:prstGeom>
          <a:solidFill>
            <a:srgbClr val="0B8FA8">
              <a:alpha val="18000"/>
            </a:srgbClr>
          </a:solidFill>
          <a:ln w="12700">
            <a:solidFill>
              <a:srgbClr val="0B8FA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3657600"/>
          </a:xfrm>
          <a:prstGeom prst="ellipse">
            <a:avLst/>
          </a:prstGeom>
          <a:solidFill>
            <a:srgbClr val="13C4C4">
              <a:alpha val="12000"/>
            </a:srgbClr>
          </a:solidFill>
          <a:ln w="12700">
            <a:solidFill>
              <a:srgbClr val="13C4C4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du Projet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996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435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réussie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2012–2021 intégralement migrées vers Neo4j, cohérence vérifiée.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34086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61872" y="2276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graphe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2578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de voisinage et traversées 4× plus rapides qu'en SQL.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8211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B8FA8"/>
          </a:solidFill>
          <a:ln w="12700">
            <a:solidFill>
              <a:srgbClr val="0B8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63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3118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34198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commentés, processus documenté dans RUN_PROCESS.md.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95344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0233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3C4C4"/>
          </a:solidFill>
          <a:ln w="12700">
            <a:solidFill>
              <a:srgbClr val="13C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3959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61872" y="42611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années, enrichissement socio-économique, visualisation Neo4j Browser.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1250</Words>
  <Application>Microsoft Office PowerPoint</Application>
  <PresentationFormat>Affichage à l'écran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SAE-5.02 — Migration Base Relationnelle vers Graphe</dc:title>
  <dc:subject>PptxGenJS Presentation</dc:subject>
  <dc:creator>PptxGenJS</dc:creator>
  <cp:lastModifiedBy>TESTSI</cp:lastModifiedBy>
  <cp:revision>3</cp:revision>
  <dcterms:created xsi:type="dcterms:W3CDTF">2026-02-25T12:26:43Z</dcterms:created>
  <dcterms:modified xsi:type="dcterms:W3CDTF">2026-02-25T13:02:56Z</dcterms:modified>
</cp:coreProperties>
</file>